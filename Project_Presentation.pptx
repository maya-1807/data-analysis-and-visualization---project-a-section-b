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52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64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מאיה: שלום, אנחנו מאיה, פז ועדי, ונציג את מערכת האחזור שבנינו ל-Section B. המשימה — לקבל שאילתה ולהחזיר את עמודי הוויקיפדיה הרלוונטיים מדורגים לפי רלוונטיות. בנינו צינור בן ארבעה שלבים: chunk, embed, index, retrieve, שמגיע ל-NDCG@10 של 0.342 — שיפור של חמישה-עשר וחצי אחוז מעל הגרסה הראשונה שעבדה. כל החלטה בדרך נתמכה במדידות, ואת זה נראה עכשיו.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מאיה: קודם המשימה. הקורפוס הוא עשרים-ושבעה אלף ערכים סינתטיים-חלקית עם עובדות בדויות; חמישים שאילתות ציבוריות, רלוונטיות בינארית, ולשאילתה יכולים להיות כמה עמודים רלוונטיים. זיהינו שתי משפחות: שאילתות חד-עמודיות שבהן אנחנו טובים — 0.408 — ושאילתות מרובות-קפיצות שדורשות לקשר שניים עד ארבעה עמודים, שם הציון צונח. ככל שיש יותר עמודים רלוונטיים הביצועים יורדים בחדות, והחצי המרובה הזה הוא לב הבעיה.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פז: זה הצינור המלא — ארבעה שלבים: chunking, embedding, indexing ו-retrieval. הכול נבנה אופליין ונשלח בתיקיית artifacts; הבודק רק קורא ל-run ומקבל תוצאות תוך פחות משישים שניות. הנקודה החשובה: כל פרמטר שתכף תראו נבחר ממדידת NDCG, לא מברירת מחדל. עכשיו נעבור שלב-שלב.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פז: שלב ראשון — chunking. חלון נע של מאתיים מילים, מיושר לגבולות משפטים כדי לא לחתוך עובדה באמצע, עם חפיפה של שני משפטים וקידומת של כותרת העמוד בכל chunk — בסך הכול ארבע-מאות-עשרים-ושמונה אלף chunks. בדקנו אמפירית להאכיל את ה-reranker בקטעים קטנים יותר, והאיכות יורדת מונוטונית: קטעים קטנים מאבדים הקשר. מאתיים מילים, בערך מאתיים-חמישים טוקנים, מתאימות בדיוק לחלון של ה-reranker. הבדיקה חסכה לנו בנייה מחדש של חצי שעה.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פז: שלב שני — embedding. השתמשנו ב-all-MiniLM-L6-v2 כנדרש: וקטורים ב-384 מימדים וחיפוש עם FAISS. אבל MiniLM לבדו חלש — רק 0.132. בריקול על מאה העמודים הרלוונטיים, ה-dense מחזיר 0.72 וה-BM25 הדליל מחזיר 0.96, ורק עמוד אחד נמצא בלעדית על-ידי ה-dense. בשאילתות מופשטות ומרובות-קפיצות מקודד דו-כיווני קטן פשוט חלש — ולכן צירפנו זרוע דלילה.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עדי: שלב שלישי — אינדוקס. שני אינדקסים: FAISS IndexFlatIP לחיפוש מדויק, ו-BM25 inverted index בנומפיי טהור עם מאתיים-ארבעים-ושמונה אלף מונחים. הבאג הכי משמעותי שתיקנו: בבנייה הראשונה שמרנו רק חמישים אלף המונחים הנדירים, וה-BM25 היה כמעט חסר תועלת; כששמרנו את כל המונחים קיבלנו את הקפיצה הכי גדולה ביחיד — פלוס 0.016. בנוסף, מעבר מ-JSON ל-pickle קיצר טעינה מ-6.6 שניות ל-0.3.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עדי: שלב רביעי — אחזור. RRF ממזג את הדירוג הצפוף והדליל לרמת עמוד, לוקחים שישים מועמדים, וה-CrossEncoder מסוג L-12 מדרג את שני ה-chunks הכי טובים בכל עמוד עם max-pooling, כך שעמוד שעונה רק על חלק אחד משאילתה מרובת-קפיצות עדיין יכול לנצח. זה המנוף המנצח: L-12 הוסיף, וה-max-pool הוסיף עוד — מ-0.296 ל-0.342, פלוס חמישה-עשר וחצי אחוז, בתוך תקציב הזמן.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עדי: הממצא שהנחה את הכול — אנחנו מוגבלי-reranker. הריקול קורס מ-0.83 בסט המועמדים ל-0.32 בעשירייה הסופית: חמישים-ואחד עמודים רלוונטיים נכנסים אבל מדורגים במקום אחד-עשר ומעלה. תקרת ה-oracle היא 0.877 לעומת 0.342 ששלחנו — כחצי נקודת NDCG יושבת באיכות הדירוג בלבד. לכן השקענו את המאמץ ב-reranker ולא בעוד ריקול.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מאיה: חשוב לא פחות — מה ניסינו ופסלנו. כל מנוף נבדק ב-A/B על חמישים השאילתות. פירוק שאילתות הזיק, max-pool לפי facet הזיק, שקלול BM25 העלה ריקול אבל הוריד NDCG, ורכיבי reranker חזקים יותר כולם הפסידו ל-L-12. ניסינו גם משקל RRF שנתן פלוס 0.009 על הסט הציבורי — אבל מינוס 0.018 בוולידציה צולבת, כלומר אשליה. השיפוט שלנו תמיד היה לפי cross-validation ולא לפי הממוצע הציבורי, ושינויים מתחת ל-0.01 נחשבו רעש.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495" y="2871157"/>
            <a:ext cx="1793771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B · RETRIEVAL PIPELINE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90495" y="3395557"/>
            <a:ext cx="12753974" cy="1270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650" b="1" kern="0" spc="-70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four-stage retrieval system over 27k Wikipedia-style entries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90495" y="5123364"/>
            <a:ext cx="4669613" cy="262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63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mean NDCG@10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990495" y="5423647"/>
            <a:ext cx="3500332" cy="945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kern="0" spc="-144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0.4623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344030" y="5961529"/>
            <a:ext cx="96776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56A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+56.2%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90495" y="6407488"/>
            <a:ext cx="4669613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vs. 0.296 — our first working pipeline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73678" y="5409114"/>
            <a:ext cx="9525" cy="1143000"/>
          </a:xfrm>
          <a:prstGeom prst="rect">
            <a:avLst/>
          </a:prstGeom>
          <a:solidFill>
            <a:srgbClr val="274564"/>
          </a:solidFill>
          <a:ln/>
        </p:spPr>
      </p:sp>
      <p:sp>
        <p:nvSpPr>
          <p:cNvPr id="9" name="Shape 7"/>
          <p:cNvSpPr/>
          <p:nvPr/>
        </p:nvSpPr>
        <p:spPr>
          <a:xfrm>
            <a:off x="6121213" y="5614672"/>
            <a:ext cx="936742" cy="440181"/>
          </a:xfrm>
          <a:prstGeom prst="roundRect">
            <a:avLst>
              <a:gd name="adj" fmla="val 50000"/>
            </a:avLst>
          </a:prstGeom>
          <a:solidFill>
            <a:srgbClr val="122538"/>
          </a:solidFill>
          <a:ln w="11206">
            <a:solidFill>
              <a:srgbClr val="2745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3869" y="5711603"/>
            <a:ext cx="647630" cy="284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72115" y="5614672"/>
            <a:ext cx="936742" cy="440181"/>
          </a:xfrm>
          <a:prstGeom prst="roundRect">
            <a:avLst>
              <a:gd name="adj" fmla="val 50000"/>
            </a:avLst>
          </a:prstGeom>
          <a:solidFill>
            <a:srgbClr val="122538"/>
          </a:solidFill>
          <a:ln w="11206">
            <a:solidFill>
              <a:srgbClr val="2745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54770" y="5711603"/>
            <a:ext cx="647630" cy="284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3016" y="5614672"/>
            <a:ext cx="936742" cy="440181"/>
          </a:xfrm>
          <a:prstGeom prst="roundRect">
            <a:avLst>
              <a:gd name="adj" fmla="val 50000"/>
            </a:avLst>
          </a:prstGeom>
          <a:solidFill>
            <a:srgbClr val="122538"/>
          </a:solidFill>
          <a:ln w="11206">
            <a:solidFill>
              <a:srgbClr val="2745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5672" y="5711603"/>
            <a:ext cx="647630" cy="284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21213" y="6169013"/>
            <a:ext cx="1279747" cy="440181"/>
          </a:xfrm>
          <a:prstGeom prst="roundRect">
            <a:avLst>
              <a:gd name="adj" fmla="val 50000"/>
            </a:avLst>
          </a:prstGeom>
          <a:solidFill>
            <a:srgbClr val="122538"/>
          </a:solidFill>
          <a:ln w="11206">
            <a:solidFill>
              <a:srgbClr val="2745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3869" y="6265944"/>
            <a:ext cx="990635" cy="284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90495" y="7236015"/>
            <a:ext cx="542645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609270" y="7332141"/>
            <a:ext cx="323745" cy="9525"/>
          </a:xfrm>
          <a:prstGeom prst="rect">
            <a:avLst/>
          </a:prstGeom>
          <a:solidFill>
            <a:srgbClr val="274564"/>
          </a:solidFill>
          <a:ln/>
        </p:spPr>
      </p:sp>
      <p:sp>
        <p:nvSpPr>
          <p:cNvPr id="19" name="Text 17"/>
          <p:cNvSpPr/>
          <p:nvPr/>
        </p:nvSpPr>
        <p:spPr>
          <a:xfrm>
            <a:off x="2085345" y="7219206"/>
            <a:ext cx="4463338" cy="273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Meirovich · Paz Goldfryd · Adi Golani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990495" y="9764175"/>
            <a:ext cx="66535" cy="66535"/>
          </a:xfrm>
          <a:prstGeom prst="ellipse">
            <a:avLst/>
          </a:prstGeom>
          <a:solidFill>
            <a:srgbClr val="01669C"/>
          </a:solidFill>
          <a:ln/>
        </p:spPr>
      </p:sp>
      <p:sp>
        <p:nvSpPr>
          <p:cNvPr id="21" name="Text 19"/>
          <p:cNvSpPr/>
          <p:nvPr/>
        </p:nvSpPr>
        <p:spPr>
          <a:xfrm>
            <a:off x="1152280" y="9707795"/>
            <a:ext cx="3202718" cy="2173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B · Retrieval pipeline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16571923" y="9707795"/>
            <a:ext cx="801781" cy="2173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09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495" y="838165"/>
            <a:ext cx="1793771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TASK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90495" y="1267315"/>
            <a:ext cx="17937710" cy="542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50" b="1" kern="0" spc="-45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retrieving — and why it is hard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990495" y="2190575"/>
            <a:ext cx="2575077" cy="1237900"/>
          </a:xfrm>
          <a:prstGeom prst="roundRect">
            <a:avLst>
              <a:gd name="adj" fmla="val 10772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30196" y="2411191"/>
            <a:ext cx="230524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27,074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230196" y="3039771"/>
            <a:ext cx="2305242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CORPUS ENTRIES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98816" y="2190575"/>
            <a:ext cx="2575077" cy="1237900"/>
          </a:xfrm>
          <a:prstGeom prst="roundRect">
            <a:avLst>
              <a:gd name="adj" fmla="val 10772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38517" y="2411191"/>
            <a:ext cx="230524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3938517" y="3039771"/>
            <a:ext cx="2305242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QUERIES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7138" y="2190575"/>
            <a:ext cx="2575077" cy="1237900"/>
          </a:xfrm>
          <a:prstGeom prst="roundRect">
            <a:avLst>
              <a:gd name="adj" fmla="val 10772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46838" y="2411191"/>
            <a:ext cx="230524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NDCG@10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6646838" y="3039771"/>
            <a:ext cx="2305242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60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GRADED METRIC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0495" y="3637884"/>
            <a:ext cx="8231291" cy="643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Partially-synthetic pages with fictional facts. Binary relevance, and a query may have </a:t>
            </a:r>
            <a:r>
              <a:rPr lang="en-US" sz="1650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</a:t>
            </a:r>
            <a:r>
              <a:rPr lang="en-US" sz="16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pages — so recall </a:t>
            </a:r>
            <a:r>
              <a:rPr lang="en-US" sz="1650" i="1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6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both matter.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305784" y="2191153"/>
            <a:ext cx="7991720" cy="7296430"/>
          </a:xfrm>
          <a:prstGeom prst="roundRect">
            <a:avLst>
              <a:gd name="adj" fmla="val 1828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3985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40735" y="2488093"/>
            <a:ext cx="8054000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NDCG@10 BY # RELEVANT PAGES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9640735" y="2724467"/>
            <a:ext cx="8054000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 facets to satisfy → sharper drop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9640735" y="3256046"/>
            <a:ext cx="1219200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936065" y="3197215"/>
            <a:ext cx="5207408" cy="28575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36065" y="3197215"/>
            <a:ext cx="4717851" cy="285750"/>
          </a:xfrm>
          <a:prstGeom prst="roundRect">
            <a:avLst>
              <a:gd name="adj" fmla="val 16667"/>
            </a:avLst>
          </a:prstGeom>
          <a:solidFill>
            <a:srgbClr val="56A8DF"/>
          </a:solidFill>
          <a:ln/>
        </p:spPr>
      </p:sp>
      <p:sp>
        <p:nvSpPr>
          <p:cNvPr id="20" name="Text 18"/>
          <p:cNvSpPr/>
          <p:nvPr/>
        </p:nvSpPr>
        <p:spPr>
          <a:xfrm>
            <a:off x="16219603" y="3239237"/>
            <a:ext cx="742950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.408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40735" y="3732296"/>
            <a:ext cx="1219200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pages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936065" y="3673450"/>
            <a:ext cx="5207408" cy="28575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36065" y="3673450"/>
            <a:ext cx="2671377" cy="285750"/>
          </a:xfrm>
          <a:prstGeom prst="roundRect">
            <a:avLst>
              <a:gd name="adj" fmla="val 16667"/>
            </a:avLst>
          </a:prstGeom>
          <a:solidFill>
            <a:srgbClr val="01669C"/>
          </a:solidFill>
          <a:ln/>
        </p:spPr>
      </p:sp>
      <p:sp>
        <p:nvSpPr>
          <p:cNvPr id="24" name="Text 22"/>
          <p:cNvSpPr/>
          <p:nvPr/>
        </p:nvSpPr>
        <p:spPr>
          <a:xfrm>
            <a:off x="16219603" y="3715472"/>
            <a:ext cx="742950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.231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640735" y="4208531"/>
            <a:ext cx="1219200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pages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936065" y="4149700"/>
            <a:ext cx="5207408" cy="28575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36065" y="4149700"/>
            <a:ext cx="2442182" cy="285750"/>
          </a:xfrm>
          <a:prstGeom prst="roundRect">
            <a:avLst>
              <a:gd name="adj" fmla="val 16667"/>
            </a:avLst>
          </a:prstGeom>
          <a:solidFill>
            <a:srgbClr val="01669C"/>
          </a:solidFill>
          <a:ln/>
        </p:spPr>
      </p:sp>
      <p:sp>
        <p:nvSpPr>
          <p:cNvPr id="28" name="Text 26"/>
          <p:cNvSpPr/>
          <p:nvPr/>
        </p:nvSpPr>
        <p:spPr>
          <a:xfrm>
            <a:off x="16219603" y="4191722"/>
            <a:ext cx="742950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.211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640735" y="4684781"/>
            <a:ext cx="1219200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pages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936065" y="4625950"/>
            <a:ext cx="5207408" cy="28575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36065" y="4625935"/>
            <a:ext cx="1260136" cy="285750"/>
          </a:xfrm>
          <a:prstGeom prst="roundRect">
            <a:avLst>
              <a:gd name="adj" fmla="val 16667"/>
            </a:avLst>
          </a:prstGeom>
          <a:solidFill>
            <a:srgbClr val="9BBACD"/>
          </a:solidFill>
          <a:ln/>
        </p:spPr>
      </p:sp>
      <p:sp>
        <p:nvSpPr>
          <p:cNvPr id="32" name="Text 30"/>
          <p:cNvSpPr/>
          <p:nvPr/>
        </p:nvSpPr>
        <p:spPr>
          <a:xfrm>
            <a:off x="16219603" y="4667957"/>
            <a:ext cx="742950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.109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640735" y="9033768"/>
            <a:ext cx="7541473" cy="194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Multi-hop queries (≥2 relevant) are half the set and where the points are.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90495" y="9764175"/>
            <a:ext cx="66535" cy="66535"/>
          </a:xfrm>
          <a:prstGeom prst="ellipse">
            <a:avLst/>
          </a:prstGeom>
          <a:solidFill>
            <a:srgbClr val="01669C"/>
          </a:solidFill>
          <a:ln/>
        </p:spPr>
      </p:sp>
      <p:sp>
        <p:nvSpPr>
          <p:cNvPr id="35" name="Text 33"/>
          <p:cNvSpPr/>
          <p:nvPr/>
        </p:nvSpPr>
        <p:spPr>
          <a:xfrm>
            <a:off x="1152280" y="9707795"/>
            <a:ext cx="3202718" cy="2173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B · Retrieval pipeline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16571923" y="9707795"/>
            <a:ext cx="801781" cy="2173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09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495" y="838165"/>
            <a:ext cx="1793771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PIPELINE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90495" y="1267315"/>
            <a:ext cx="17937710" cy="542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50" b="1" kern="0" spc="-45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stages, every choice justified empirically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990495" y="1942995"/>
            <a:ext cx="11525249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offline and shipped in </a:t>
            </a:r>
            <a:r>
              <a:rPr lang="en-US" sz="1800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artifacts/ </a:t>
            </a:r>
            <a:r>
              <a:rPr lang="en-US" sz="180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one </a:t>
            </a:r>
            <a:r>
              <a:rPr lang="en-US" sz="1800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run(queries) </a:t>
            </a:r>
            <a:r>
              <a:rPr lang="en-US" sz="180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retrieves under the 60 s budget.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495" y="2793416"/>
            <a:ext cx="3790915" cy="2300883"/>
          </a:xfrm>
          <a:prstGeom prst="roundRect">
            <a:avLst>
              <a:gd name="adj" fmla="val 5796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49281" y="3052202"/>
            <a:ext cx="3600678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13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01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249281" y="3315540"/>
            <a:ext cx="3600678" cy="407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49281" y="3723329"/>
            <a:ext cx="3600678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428k chunks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1249281" y="4081917"/>
            <a:ext cx="3273343" cy="9525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10" name="Text 8"/>
          <p:cNvSpPr/>
          <p:nvPr/>
        </p:nvSpPr>
        <p:spPr>
          <a:xfrm>
            <a:off x="1249281" y="4281872"/>
            <a:ext cx="3371544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Sentence-aware sliding window, </a:t>
            </a:r>
            <a:r>
              <a:rPr lang="en-US" sz="1350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words </a:t>
            </a:r>
            <a:r>
              <a:rPr lang="en-US" sz="13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2-sentence overlap, title prefixed.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76469" y="3792491"/>
            <a:ext cx="647700" cy="34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352910" y="2793416"/>
            <a:ext cx="3505340" cy="2300883"/>
          </a:xfrm>
          <a:prstGeom prst="roundRect">
            <a:avLst>
              <a:gd name="adj" fmla="val 5796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11695" y="3052202"/>
            <a:ext cx="3286545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13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02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5611695" y="3315540"/>
            <a:ext cx="3286545" cy="407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5611695" y="3723329"/>
            <a:ext cx="3286545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384-dim dense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5611695" y="4081917"/>
            <a:ext cx="2987768" cy="9525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17" name="Text 15"/>
          <p:cNvSpPr/>
          <p:nvPr/>
        </p:nvSpPr>
        <p:spPr>
          <a:xfrm>
            <a:off x="5611695" y="4281872"/>
            <a:ext cx="3077401" cy="542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all-MiniLM-L6-v2 </a:t>
            </a:r>
            <a:r>
              <a:rPr lang="en-US" sz="13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(mandated). Weak alone → paired with sparse.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53309" y="3792491"/>
            <a:ext cx="647700" cy="34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429749" y="2793416"/>
            <a:ext cx="3505165" cy="2300883"/>
          </a:xfrm>
          <a:prstGeom prst="roundRect">
            <a:avLst>
              <a:gd name="adj" fmla="val 5796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88535" y="3052202"/>
            <a:ext cx="3286353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13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03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9688535" y="3315540"/>
            <a:ext cx="3286353" cy="407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688535" y="3723329"/>
            <a:ext cx="3286353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+ sparse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9688535" y="4081917"/>
            <a:ext cx="2987593" cy="9525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24" name="Text 22"/>
          <p:cNvSpPr/>
          <p:nvPr/>
        </p:nvSpPr>
        <p:spPr>
          <a:xfrm>
            <a:off x="9688535" y="4281872"/>
            <a:ext cx="3077221" cy="542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</a:t>
            </a:r>
            <a:r>
              <a:rPr lang="en-US" sz="13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IndexFlatIP + </a:t>
            </a:r>
            <a:r>
              <a:rPr lang="en-US" sz="1350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</a:t>
            </a:r>
            <a:r>
              <a:rPr lang="en-US" sz="13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inverted index, 248k vocab.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2629974" y="3792491"/>
            <a:ext cx="647700" cy="34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3506414" y="2793416"/>
            <a:ext cx="3791090" cy="2300883"/>
          </a:xfrm>
          <a:prstGeom prst="roundRect">
            <a:avLst>
              <a:gd name="adj" fmla="val 5796"/>
            </a:avLst>
          </a:prstGeom>
          <a:solidFill>
            <a:srgbClr val="122538"/>
          </a:solidFill>
          <a:ln w="11206">
            <a:solidFill>
              <a:srgbClr val="16486C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765200" y="3052202"/>
            <a:ext cx="3600870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13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04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3765200" y="3315540"/>
            <a:ext cx="3600870" cy="407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3765200" y="3723329"/>
            <a:ext cx="3600870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fuse → rerank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13765200" y="4081917"/>
            <a:ext cx="3273518" cy="9525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31" name="Text 29"/>
          <p:cNvSpPr/>
          <p:nvPr/>
        </p:nvSpPr>
        <p:spPr>
          <a:xfrm>
            <a:off x="13765200" y="4281872"/>
            <a:ext cx="3371724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 </a:t>
            </a:r>
            <a:r>
              <a:rPr lang="en-US" sz="13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→ 60 candidates → </a:t>
            </a:r>
            <a:r>
              <a:rPr lang="en-US" sz="1350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CrossEncoder </a:t>
            </a:r>
            <a:r>
              <a:rPr lang="en-US" sz="13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 → top-10.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90495" y="5456475"/>
            <a:ext cx="2515178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6A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r>
              <a:rPr lang="en-US" sz="1200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 build — untimed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00765" y="5456475"/>
            <a:ext cx="2816984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r>
              <a:rPr lang="en-US" sz="1200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time — ≤ 60 s on GPU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85404" y="5456465"/>
            <a:ext cx="6740268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parameter below was chosen from measured NDCG, not by default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90495" y="9764175"/>
            <a:ext cx="66535" cy="66535"/>
          </a:xfrm>
          <a:prstGeom prst="ellipse">
            <a:avLst/>
          </a:prstGeom>
          <a:solidFill>
            <a:srgbClr val="01669C"/>
          </a:solidFill>
          <a:ln/>
        </p:spPr>
      </p:sp>
      <p:sp>
        <p:nvSpPr>
          <p:cNvPr id="36" name="Text 34"/>
          <p:cNvSpPr/>
          <p:nvPr/>
        </p:nvSpPr>
        <p:spPr>
          <a:xfrm>
            <a:off x="1152280" y="9707795"/>
            <a:ext cx="3202718" cy="2173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B · Retrieval pipeline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16571923" y="9707795"/>
            <a:ext cx="801781" cy="2173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09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495" y="838165"/>
            <a:ext cx="1793771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01 · CHUNK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90495" y="1267315"/>
            <a:ext cx="17937710" cy="542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50" b="1" kern="0" spc="-45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big enough to keep the context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990495" y="2190580"/>
            <a:ext cx="8039169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77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90495" y="2598369"/>
            <a:ext cx="304870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90580" y="2598368"/>
            <a:ext cx="711549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 of </a:t>
            </a:r>
            <a:r>
              <a:rPr lang="en-US" sz="1575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words</a:t>
            </a:r>
            <a:r>
              <a:rPr lang="en-US" sz="157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snapped to </a:t>
            </a:r>
            <a:r>
              <a:rPr lang="en-US" sz="1575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boundaries </a:t>
            </a:r>
            <a:r>
              <a:rPr lang="en-US" sz="157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chunks never cut mid-fact.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990495" y="3360368"/>
            <a:ext cx="304870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90580" y="3360366"/>
            <a:ext cx="7494109" cy="329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2-sentence overlap </a:t>
            </a:r>
            <a:r>
              <a:rPr lang="en-US" sz="157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 fact straddling a boundary lives in both neighbours.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990495" y="3842220"/>
            <a:ext cx="304870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90580" y="3842220"/>
            <a:ext cx="6009539" cy="329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chunk </a:t>
            </a:r>
            <a:r>
              <a:rPr lang="en-US" sz="1575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title-prefixed </a:t>
            </a:r>
            <a:r>
              <a:rPr lang="en-US" sz="157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page context → </a:t>
            </a:r>
            <a:r>
              <a:rPr lang="en-US" sz="1575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428k chunks</a:t>
            </a:r>
            <a:r>
              <a:rPr lang="en-US" sz="157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990495" y="8286051"/>
            <a:ext cx="7308336" cy="1200955"/>
          </a:xfrm>
          <a:prstGeom prst="roundRect">
            <a:avLst>
              <a:gd name="adj" fmla="val 11104"/>
            </a:avLst>
          </a:prstGeom>
          <a:solidFill>
            <a:srgbClr val="122538"/>
          </a:solidFill>
          <a:ln w="11206">
            <a:solidFill>
              <a:srgbClr val="16486C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30196" y="8506667"/>
            <a:ext cx="7511828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68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200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230196" y="8750920"/>
            <a:ext cx="7033802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~250 tokens — matches the reranker's 256-token window. Going smaller strips context; going bigger dilutes it.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8717826" y="2191233"/>
            <a:ext cx="8579678" cy="7296430"/>
          </a:xfrm>
          <a:prstGeom prst="roundRect">
            <a:avLst>
              <a:gd name="adj" fmla="val 1828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3983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71861" y="2488189"/>
            <a:ext cx="8658767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 · RERANKER SUB-PASSAGE SIZE → NDCG@10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9071861" y="2724563"/>
            <a:ext cx="8658767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re-split each chunk before reranking, no rebuild · axis starts at 0.29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9071861" y="3326704"/>
            <a:ext cx="1362075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words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10462442" y="3254566"/>
            <a:ext cx="5623952" cy="323745"/>
          </a:xfrm>
          <a:prstGeom prst="roundRect">
            <a:avLst>
              <a:gd name="adj" fmla="val 14711"/>
            </a:avLst>
          </a:prstGeom>
          <a:solidFill>
            <a:srgbClr val="0B1A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62442" y="3254566"/>
            <a:ext cx="5314565" cy="323745"/>
          </a:xfrm>
          <a:prstGeom prst="roundRect">
            <a:avLst>
              <a:gd name="adj" fmla="val 14711"/>
            </a:avLst>
          </a:prstGeom>
          <a:solidFill>
            <a:srgbClr val="56A8DF"/>
          </a:solidFill>
          <a:ln/>
        </p:spPr>
      </p:sp>
      <p:sp>
        <p:nvSpPr>
          <p:cNvPr id="20" name="Text 18"/>
          <p:cNvSpPr/>
          <p:nvPr/>
        </p:nvSpPr>
        <p:spPr>
          <a:xfrm>
            <a:off x="16162523" y="3315498"/>
            <a:ext cx="780945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.342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071861" y="3878927"/>
            <a:ext cx="1362075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words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10462442" y="3806790"/>
            <a:ext cx="5623952" cy="323745"/>
          </a:xfrm>
          <a:prstGeom prst="roundRect">
            <a:avLst>
              <a:gd name="adj" fmla="val 14711"/>
            </a:avLst>
          </a:prstGeom>
          <a:solidFill>
            <a:srgbClr val="0B1A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62442" y="3806790"/>
            <a:ext cx="4909577" cy="323745"/>
          </a:xfrm>
          <a:prstGeom prst="roundRect">
            <a:avLst>
              <a:gd name="adj" fmla="val 14711"/>
            </a:avLst>
          </a:prstGeom>
          <a:solidFill>
            <a:srgbClr val="01669C"/>
          </a:solidFill>
          <a:ln/>
        </p:spPr>
      </p:sp>
      <p:sp>
        <p:nvSpPr>
          <p:cNvPr id="24" name="Text 22"/>
          <p:cNvSpPr/>
          <p:nvPr/>
        </p:nvSpPr>
        <p:spPr>
          <a:xfrm>
            <a:off x="16162523" y="3867722"/>
            <a:ext cx="780945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.338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9071861" y="4431167"/>
            <a:ext cx="1362075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words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0462442" y="4359030"/>
            <a:ext cx="5623952" cy="323745"/>
          </a:xfrm>
          <a:prstGeom prst="roundRect">
            <a:avLst>
              <a:gd name="adj" fmla="val 14711"/>
            </a:avLst>
          </a:prstGeom>
          <a:solidFill>
            <a:srgbClr val="0B1A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62442" y="4359030"/>
            <a:ext cx="3272993" cy="323745"/>
          </a:xfrm>
          <a:prstGeom prst="roundRect">
            <a:avLst>
              <a:gd name="adj" fmla="val 14711"/>
            </a:avLst>
          </a:prstGeom>
          <a:solidFill>
            <a:srgbClr val="01669C"/>
          </a:solidFill>
          <a:ln/>
        </p:spPr>
      </p:sp>
      <p:sp>
        <p:nvSpPr>
          <p:cNvPr id="28" name="Text 26"/>
          <p:cNvSpPr/>
          <p:nvPr/>
        </p:nvSpPr>
        <p:spPr>
          <a:xfrm>
            <a:off x="16162523" y="4419962"/>
            <a:ext cx="780945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.322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9071861" y="4983407"/>
            <a:ext cx="1362075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words</a:t>
            </a:r>
            <a:endParaRPr lang="en-US" sz="1275" dirty="0"/>
          </a:p>
        </p:txBody>
      </p:sp>
      <p:sp>
        <p:nvSpPr>
          <p:cNvPr id="30" name="Shape 28"/>
          <p:cNvSpPr/>
          <p:nvPr/>
        </p:nvSpPr>
        <p:spPr>
          <a:xfrm>
            <a:off x="10462442" y="4911269"/>
            <a:ext cx="5623952" cy="323745"/>
          </a:xfrm>
          <a:prstGeom prst="roundRect">
            <a:avLst>
              <a:gd name="adj" fmla="val 14711"/>
            </a:avLst>
          </a:prstGeom>
          <a:solidFill>
            <a:srgbClr val="0B1A2B"/>
          </a:solidFill>
          <a:ln/>
        </p:spPr>
      </p:sp>
      <p:sp>
        <p:nvSpPr>
          <p:cNvPr id="31" name="Shape 29"/>
          <p:cNvSpPr/>
          <p:nvPr/>
        </p:nvSpPr>
        <p:spPr>
          <a:xfrm>
            <a:off x="10462442" y="4911253"/>
            <a:ext cx="1225993" cy="323745"/>
          </a:xfrm>
          <a:prstGeom prst="roundRect">
            <a:avLst>
              <a:gd name="adj" fmla="val 14711"/>
            </a:avLst>
          </a:prstGeom>
          <a:solidFill>
            <a:srgbClr val="9BBACD"/>
          </a:solidFill>
          <a:ln/>
        </p:spPr>
      </p:sp>
      <p:sp>
        <p:nvSpPr>
          <p:cNvPr id="32" name="Text 30"/>
          <p:cNvSpPr/>
          <p:nvPr/>
        </p:nvSpPr>
        <p:spPr>
          <a:xfrm>
            <a:off x="16162523" y="4972185"/>
            <a:ext cx="780945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.302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9071861" y="5520748"/>
            <a:ext cx="7871607" cy="9525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34" name="Text 32"/>
          <p:cNvSpPr/>
          <p:nvPr/>
        </p:nvSpPr>
        <p:spPr>
          <a:xfrm>
            <a:off x="9071861" y="5739613"/>
            <a:ext cx="8107755" cy="508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falls </a:t>
            </a:r>
            <a:r>
              <a:rPr lang="en-US" sz="1200" b="1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monotonically </a:t>
            </a:r>
            <a:r>
              <a:rPr lang="en-US" sz="1200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passages shrink — and CE pairs grow 2–5×. The probe saved a 30-min rebuild that would have regressed.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90495" y="9764175"/>
            <a:ext cx="66535" cy="66535"/>
          </a:xfrm>
          <a:prstGeom prst="ellipse">
            <a:avLst/>
          </a:prstGeom>
          <a:solidFill>
            <a:srgbClr val="01669C"/>
          </a:solidFill>
          <a:ln/>
        </p:spPr>
      </p:sp>
      <p:sp>
        <p:nvSpPr>
          <p:cNvPr id="36" name="Text 34"/>
          <p:cNvSpPr/>
          <p:nvPr/>
        </p:nvSpPr>
        <p:spPr>
          <a:xfrm>
            <a:off x="1152280" y="9707795"/>
            <a:ext cx="3202718" cy="2173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B · Retrieval pipeline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16571923" y="9707795"/>
            <a:ext cx="801781" cy="2173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09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495" y="838165"/>
            <a:ext cx="1793771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02 · EMBED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90495" y="1267315"/>
            <a:ext cx="17937710" cy="542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50" b="1" kern="0" spc="-45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MiniLM is mandated — and weak on its own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990495" y="2190575"/>
            <a:ext cx="8039169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77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990495" y="2598364"/>
            <a:ext cx="304870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90580" y="2598364"/>
            <a:ext cx="711549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all-MiniLM-L6-v2 </a:t>
            </a:r>
            <a:r>
              <a:rPr lang="en-US" sz="157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384-dim, L2-normalised embeddings (similarity = dot product).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990495" y="3360364"/>
            <a:ext cx="304870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90580" y="3360364"/>
            <a:ext cx="711549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7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search returns the </a:t>
            </a:r>
            <a:r>
              <a:rPr lang="en-US" sz="1575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top-2000 chunks </a:t>
            </a:r>
            <a:r>
              <a:rPr lang="en-US" sz="157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query, folded up to page level.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990495" y="4160359"/>
            <a:ext cx="7308336" cy="1147202"/>
          </a:xfrm>
          <a:prstGeom prst="roundRect">
            <a:avLst>
              <a:gd name="adj" fmla="val 11624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49281" y="4380974"/>
            <a:ext cx="1320281" cy="564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0.132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2601866" y="4616298"/>
            <a:ext cx="2557077" cy="508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dense-only NDCG@10 </a:t>
            </a:r>
            <a:r>
              <a:rPr lang="en-US" sz="1050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0.4623 for the full pipeline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90495" y="8286049"/>
            <a:ext cx="7308336" cy="1200955"/>
          </a:xfrm>
          <a:prstGeom prst="roundRect">
            <a:avLst>
              <a:gd name="adj" fmla="val 11104"/>
            </a:avLst>
          </a:prstGeom>
          <a:solidFill>
            <a:srgbClr val="122538"/>
          </a:solidFill>
          <a:ln w="11206">
            <a:solidFill>
              <a:srgbClr val="16486C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30196" y="8506665"/>
            <a:ext cx="7511828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68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DECISION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230196" y="8750918"/>
            <a:ext cx="7033802" cy="553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Abstract, paraphrastic multi-hop queries are exactly where a small bi-encoder is weak → pair it with a sparse arm.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8717826" y="2190856"/>
            <a:ext cx="8579678" cy="7296430"/>
          </a:xfrm>
          <a:prstGeom prst="roundRect">
            <a:avLst>
              <a:gd name="adj" fmla="val 1828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3993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71861" y="2487802"/>
            <a:ext cx="8658767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 OF 100 RELEVANT PAGES · DENSE vs SPARSE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9071861" y="3053524"/>
            <a:ext cx="1676400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(MiniLM)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10748192" y="2990841"/>
            <a:ext cx="5433452" cy="304660"/>
          </a:xfrm>
          <a:prstGeom prst="roundRect">
            <a:avLst>
              <a:gd name="adj" fmla="val 15632"/>
            </a:avLst>
          </a:prstGeom>
          <a:solidFill>
            <a:srgbClr val="0B1A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748192" y="2990841"/>
            <a:ext cx="3912078" cy="304660"/>
          </a:xfrm>
          <a:prstGeom prst="roundRect">
            <a:avLst>
              <a:gd name="adj" fmla="val 15632"/>
            </a:avLst>
          </a:prstGeom>
          <a:solidFill>
            <a:srgbClr val="9BBACD"/>
          </a:solidFill>
          <a:ln/>
        </p:spPr>
      </p:sp>
      <p:sp>
        <p:nvSpPr>
          <p:cNvPr id="20" name="Text 18"/>
          <p:cNvSpPr/>
          <p:nvPr/>
        </p:nvSpPr>
        <p:spPr>
          <a:xfrm>
            <a:off x="16257773" y="3042308"/>
            <a:ext cx="685695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.72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071861" y="3586669"/>
            <a:ext cx="1676400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 (BM25)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10748192" y="3523986"/>
            <a:ext cx="5433452" cy="304660"/>
          </a:xfrm>
          <a:prstGeom prst="roundRect">
            <a:avLst>
              <a:gd name="adj" fmla="val 15632"/>
            </a:avLst>
          </a:prstGeom>
          <a:solidFill>
            <a:srgbClr val="0B1A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48192" y="3523986"/>
            <a:ext cx="5215988" cy="304660"/>
          </a:xfrm>
          <a:prstGeom prst="roundRect">
            <a:avLst>
              <a:gd name="adj" fmla="val 15632"/>
            </a:avLst>
          </a:prstGeom>
          <a:solidFill>
            <a:srgbClr val="56A8DF"/>
          </a:solidFill>
          <a:ln/>
        </p:spPr>
      </p:sp>
      <p:sp>
        <p:nvSpPr>
          <p:cNvPr id="24" name="Text 22"/>
          <p:cNvSpPr/>
          <p:nvPr/>
        </p:nvSpPr>
        <p:spPr>
          <a:xfrm>
            <a:off x="16257773" y="3575463"/>
            <a:ext cx="685695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.96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9071861" y="4133296"/>
            <a:ext cx="7871607" cy="9525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26" name="Text 24"/>
          <p:cNvSpPr/>
          <p:nvPr/>
        </p:nvSpPr>
        <p:spPr>
          <a:xfrm>
            <a:off x="9071861" y="4390331"/>
            <a:ext cx="8658767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EACH RELEVANT PAGE IS FOUND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71861" y="4729834"/>
            <a:ext cx="1867880" cy="982616"/>
          </a:xfrm>
          <a:prstGeom prst="roundRect">
            <a:avLst>
              <a:gd name="adj" fmla="val 13571"/>
            </a:avLst>
          </a:prstGeom>
          <a:solidFill>
            <a:srgbClr val="0B1A2B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58357" y="4912455"/>
            <a:ext cx="169489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9158357" y="5395358"/>
            <a:ext cx="1694890" cy="172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kern="0" spc="29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11072987" y="4729834"/>
            <a:ext cx="1868055" cy="982616"/>
          </a:xfrm>
          <a:prstGeom prst="roundRect">
            <a:avLst>
              <a:gd name="adj" fmla="val 13571"/>
            </a:avLst>
          </a:prstGeom>
          <a:solidFill>
            <a:srgbClr val="0B1A2B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159473" y="4912455"/>
            <a:ext cx="1695082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56A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11159473" y="5395349"/>
            <a:ext cx="1695082" cy="172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kern="0" spc="29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 ONLY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13074287" y="4729824"/>
            <a:ext cx="1867880" cy="982616"/>
          </a:xfrm>
          <a:prstGeom prst="roundRect">
            <a:avLst>
              <a:gd name="adj" fmla="val 13571"/>
            </a:avLst>
          </a:prstGeom>
          <a:solidFill>
            <a:srgbClr val="0B1A2B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3160783" y="4912445"/>
            <a:ext cx="169489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550" dirty="0"/>
          </a:p>
        </p:txBody>
      </p:sp>
      <p:sp>
        <p:nvSpPr>
          <p:cNvPr id="35" name="Text 33"/>
          <p:cNvSpPr/>
          <p:nvPr/>
        </p:nvSpPr>
        <p:spPr>
          <a:xfrm>
            <a:off x="13160783" y="5395349"/>
            <a:ext cx="1694890" cy="172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kern="0" spc="29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ONLY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15075412" y="4729824"/>
            <a:ext cx="1868055" cy="982616"/>
          </a:xfrm>
          <a:prstGeom prst="roundRect">
            <a:avLst>
              <a:gd name="adj" fmla="val 13571"/>
            </a:avLst>
          </a:prstGeom>
          <a:solidFill>
            <a:srgbClr val="0B1A2B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5161900" y="4912445"/>
            <a:ext cx="1695082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550" dirty="0"/>
          </a:p>
        </p:txBody>
      </p:sp>
      <p:sp>
        <p:nvSpPr>
          <p:cNvPr id="38" name="Text 36"/>
          <p:cNvSpPr/>
          <p:nvPr/>
        </p:nvSpPr>
        <p:spPr>
          <a:xfrm>
            <a:off x="15161900" y="5395349"/>
            <a:ext cx="1695082" cy="172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kern="0" spc="29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NEITHER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9071861" y="8719748"/>
            <a:ext cx="8107755" cy="508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BM25 carries recall; MiniLM adds just </a:t>
            </a:r>
            <a:r>
              <a:rPr lang="en-US" sz="1200" b="1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unique page </a:t>
            </a:r>
            <a:r>
              <a:rPr lang="en-US" sz="1200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That asymmetry is the whole reason for hybrid retrieval.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90495" y="9764175"/>
            <a:ext cx="66535" cy="66535"/>
          </a:xfrm>
          <a:prstGeom prst="ellipse">
            <a:avLst/>
          </a:prstGeom>
          <a:solidFill>
            <a:srgbClr val="01669C"/>
          </a:solidFill>
          <a:ln/>
        </p:spPr>
      </p:sp>
      <p:sp>
        <p:nvSpPr>
          <p:cNvPr id="41" name="Text 39"/>
          <p:cNvSpPr/>
          <p:nvPr/>
        </p:nvSpPr>
        <p:spPr>
          <a:xfrm>
            <a:off x="1152280" y="9707795"/>
            <a:ext cx="3202718" cy="2173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B · Retrieval pipeline</a:t>
            </a:r>
            <a:endParaRPr lang="en-US" sz="1275" dirty="0"/>
          </a:p>
        </p:txBody>
      </p:sp>
      <p:sp>
        <p:nvSpPr>
          <p:cNvPr id="42" name="Text 40"/>
          <p:cNvSpPr/>
          <p:nvPr/>
        </p:nvSpPr>
        <p:spPr>
          <a:xfrm>
            <a:off x="16571923" y="9707795"/>
            <a:ext cx="801781" cy="2173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09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495" y="838165"/>
            <a:ext cx="1793771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03 · INDEX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90495" y="1267315"/>
            <a:ext cx="17937710" cy="542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50" b="1" kern="0" spc="-45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indexes, built offline and shipped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990495" y="2190576"/>
            <a:ext cx="8039169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77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275" dirty="0"/>
          </a:p>
        </p:txBody>
      </p:sp>
      <p:sp>
        <p:nvSpPr>
          <p:cNvPr id="5" name="Shape 3"/>
          <p:cNvSpPr/>
          <p:nvPr/>
        </p:nvSpPr>
        <p:spPr>
          <a:xfrm>
            <a:off x="990495" y="2541284"/>
            <a:ext cx="7308336" cy="965632"/>
          </a:xfrm>
          <a:prstGeom prst="roundRect">
            <a:avLst>
              <a:gd name="adj" fmla="val 13810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30196" y="2761900"/>
            <a:ext cx="7511828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0196" y="3006153"/>
            <a:ext cx="7511828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IndexFlatIP </a:t>
            </a:r>
            <a:r>
              <a:rPr lang="en-US" sz="150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428k chunk vectors — exact inner-product search.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90495" y="3678331"/>
            <a:ext cx="7308336" cy="965632"/>
          </a:xfrm>
          <a:prstGeom prst="roundRect">
            <a:avLst>
              <a:gd name="adj" fmla="val 13810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30196" y="3898947"/>
            <a:ext cx="7511828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48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0196" y="4143200"/>
            <a:ext cx="7511828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inverted index</a:t>
            </a:r>
            <a:r>
              <a:rPr lang="en-US" sz="150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pure numpy / stdlib — 248k vocab terms, ~30M postings.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90495" y="8335075"/>
            <a:ext cx="7308336" cy="1151930"/>
          </a:xfrm>
          <a:prstGeom prst="roundRect">
            <a:avLst>
              <a:gd name="adj" fmla="val 11576"/>
            </a:avLst>
          </a:prstGeom>
          <a:solidFill>
            <a:srgbClr val="122538"/>
          </a:solidFill>
          <a:ln w="11206">
            <a:solidFill>
              <a:srgbClr val="16486C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30196" y="8536781"/>
            <a:ext cx="7511828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68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SHIPPED, NOT REBUILT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230196" y="8781034"/>
            <a:ext cx="7033802" cy="542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indexes live in </a:t>
            </a:r>
            <a:r>
              <a:rPr lang="en-US" sz="1350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artifacts/ </a:t>
            </a:r>
            <a:r>
              <a:rPr lang="en-US" sz="13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(Git LFS); the grader only calls </a:t>
            </a:r>
            <a:r>
              <a:rPr lang="en-US" sz="1350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run() </a:t>
            </a:r>
            <a:r>
              <a:rPr lang="en-US" sz="13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loads from disk.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717826" y="2191168"/>
            <a:ext cx="8579678" cy="7296430"/>
          </a:xfrm>
          <a:prstGeom prst="roundRect">
            <a:avLst>
              <a:gd name="adj" fmla="val 1828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3984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71861" y="2488124"/>
            <a:ext cx="8658767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BM25 VOCAB BUG — OUR BIGGEST SINGLE FIX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9071861" y="2724498"/>
            <a:ext cx="8658767" cy="25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build kept only the 50k </a:t>
            </a:r>
            <a:r>
              <a:rPr lang="en-US" sz="1125" i="1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rarest </a:t>
            </a:r>
            <a:r>
              <a:rPr lang="en-US" sz="1125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terms (sorted by IDF) → BM25 was nearly useless.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9071861" y="3223144"/>
            <a:ext cx="3850096" cy="1258035"/>
          </a:xfrm>
          <a:prstGeom prst="roundRect">
            <a:avLst>
              <a:gd name="adj" fmla="val 10600"/>
            </a:avLst>
          </a:prstGeom>
          <a:solidFill>
            <a:srgbClr val="0B1A2B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92478" y="3443760"/>
            <a:ext cx="3749751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· 50k rarest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292478" y="3695892"/>
            <a:ext cx="3749751" cy="407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 MB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292478" y="4103681"/>
            <a:ext cx="3749751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postings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3093373" y="3223144"/>
            <a:ext cx="3850096" cy="1258035"/>
          </a:xfrm>
          <a:prstGeom prst="roundRect">
            <a:avLst>
              <a:gd name="adj" fmla="val 10600"/>
            </a:avLst>
          </a:prstGeom>
          <a:solidFill>
            <a:srgbClr val="0B1A2B"/>
          </a:solidFill>
          <a:ln w="11206">
            <a:solidFill>
              <a:srgbClr val="16486C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3313988" y="3443760"/>
            <a:ext cx="3749751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· all 248k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313988" y="3695892"/>
            <a:ext cx="3749751" cy="407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56A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227 MB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3313988" y="4103681"/>
            <a:ext cx="3749751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postings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71861" y="4825745"/>
            <a:ext cx="1571625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broken BM25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652942" y="4766914"/>
            <a:ext cx="5471447" cy="28575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52942" y="4766914"/>
            <a:ext cx="3009129" cy="285750"/>
          </a:xfrm>
          <a:prstGeom prst="roundRect">
            <a:avLst>
              <a:gd name="adj" fmla="val 16667"/>
            </a:avLst>
          </a:prstGeom>
          <a:solidFill>
            <a:srgbClr val="9BBACD"/>
          </a:solidFill>
          <a:ln/>
        </p:spPr>
      </p:sp>
      <p:sp>
        <p:nvSpPr>
          <p:cNvPr id="28" name="Text 26"/>
          <p:cNvSpPr/>
          <p:nvPr/>
        </p:nvSpPr>
        <p:spPr>
          <a:xfrm>
            <a:off x="16200518" y="4808936"/>
            <a:ext cx="742950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.273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071861" y="5282910"/>
            <a:ext cx="1571625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BM25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652942" y="5224079"/>
            <a:ext cx="5471447" cy="28575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/>
        </p:spPr>
      </p:sp>
      <p:sp>
        <p:nvSpPr>
          <p:cNvPr id="31" name="Shape 29"/>
          <p:cNvSpPr/>
          <p:nvPr/>
        </p:nvSpPr>
        <p:spPr>
          <a:xfrm>
            <a:off x="10652942" y="5224079"/>
            <a:ext cx="3884589" cy="285750"/>
          </a:xfrm>
          <a:prstGeom prst="roundRect">
            <a:avLst>
              <a:gd name="adj" fmla="val 16667"/>
            </a:avLst>
          </a:prstGeom>
          <a:solidFill>
            <a:srgbClr val="56A8DF"/>
          </a:solidFill>
          <a:ln/>
        </p:spPr>
      </p:sp>
      <p:sp>
        <p:nvSpPr>
          <p:cNvPr id="32" name="Text 30"/>
          <p:cNvSpPr/>
          <p:nvPr/>
        </p:nvSpPr>
        <p:spPr>
          <a:xfrm>
            <a:off x="16200518" y="5266101"/>
            <a:ext cx="742950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.289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071861" y="8697622"/>
            <a:ext cx="8107755" cy="531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56A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+0.016 NDCG </a:t>
            </a:r>
            <a:r>
              <a:rPr lang="en-US" sz="1200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one fix. Aside: swapping the chunk-text store JSON → pickle cut load </a:t>
            </a:r>
            <a:r>
              <a:rPr lang="en-US" sz="1200" b="1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6.6 s → 0.3 s </a:t>
            </a:r>
            <a:r>
              <a:rPr lang="en-US" sz="1200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(22×).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90495" y="9764175"/>
            <a:ext cx="66535" cy="66535"/>
          </a:xfrm>
          <a:prstGeom prst="ellipse">
            <a:avLst/>
          </a:prstGeom>
          <a:solidFill>
            <a:srgbClr val="01669C"/>
          </a:solidFill>
          <a:ln/>
        </p:spPr>
      </p:sp>
      <p:sp>
        <p:nvSpPr>
          <p:cNvPr id="35" name="Text 33"/>
          <p:cNvSpPr/>
          <p:nvPr/>
        </p:nvSpPr>
        <p:spPr>
          <a:xfrm>
            <a:off x="1152280" y="9707795"/>
            <a:ext cx="3202718" cy="2173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B · Retrieval pipeline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16571923" y="9707795"/>
            <a:ext cx="801781" cy="2173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09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495" y="838165"/>
            <a:ext cx="1793771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04 · RETRIEVE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90495" y="1267315"/>
            <a:ext cx="17937710" cy="542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50" b="1" kern="0" spc="-45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 the arms, then let a cross-encoder decide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990495" y="2190575"/>
            <a:ext cx="17937710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77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QUERY-TIME FLOW</a:t>
            </a:r>
            <a:endParaRPr lang="en-US" sz="1275" dirty="0"/>
          </a:p>
        </p:txBody>
      </p:sp>
      <p:sp>
        <p:nvSpPr>
          <p:cNvPr id="5" name="Shape 3"/>
          <p:cNvSpPr/>
          <p:nvPr/>
        </p:nvSpPr>
        <p:spPr>
          <a:xfrm>
            <a:off x="990495" y="2503114"/>
            <a:ext cx="16307009" cy="580255"/>
          </a:xfrm>
          <a:prstGeom prst="roundRect">
            <a:avLst>
              <a:gd name="adj" fmla="val 18057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54031" y="2657020"/>
            <a:ext cx="266665" cy="266665"/>
          </a:xfrm>
          <a:prstGeom prst="roundRect">
            <a:avLst>
              <a:gd name="adj" fmla="val 25003"/>
            </a:avLst>
          </a:prstGeom>
          <a:solidFill>
            <a:srgbClr val="01669C"/>
          </a:solidFill>
          <a:ln/>
        </p:spPr>
      </p:sp>
      <p:sp>
        <p:nvSpPr>
          <p:cNvPr id="7" name="Text 5"/>
          <p:cNvSpPr/>
          <p:nvPr/>
        </p:nvSpPr>
        <p:spPr>
          <a:xfrm>
            <a:off x="1115931" y="2657020"/>
            <a:ext cx="342865" cy="30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573026" y="2647565"/>
            <a:ext cx="6423156" cy="329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 fusion </a:t>
            </a:r>
            <a:r>
              <a:rPr lang="en-US" sz="142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merges dense + sparse ranks to page level — equal weight, </a:t>
            </a:r>
            <a:r>
              <a:rPr lang="en-US" sz="1200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k=60</a:t>
            </a:r>
            <a:r>
              <a:rPr lang="en-US" sz="142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990495" y="3216613"/>
            <a:ext cx="16307009" cy="580255"/>
          </a:xfrm>
          <a:prstGeom prst="roundRect">
            <a:avLst>
              <a:gd name="adj" fmla="val 18057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54031" y="3370519"/>
            <a:ext cx="266665" cy="266665"/>
          </a:xfrm>
          <a:prstGeom prst="roundRect">
            <a:avLst>
              <a:gd name="adj" fmla="val 25003"/>
            </a:avLst>
          </a:prstGeom>
          <a:solidFill>
            <a:srgbClr val="01669C"/>
          </a:solidFill>
          <a:ln/>
        </p:spPr>
      </p:sp>
      <p:sp>
        <p:nvSpPr>
          <p:cNvPr id="11" name="Text 9"/>
          <p:cNvSpPr/>
          <p:nvPr/>
        </p:nvSpPr>
        <p:spPr>
          <a:xfrm>
            <a:off x="1115931" y="3370519"/>
            <a:ext cx="342865" cy="30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573026" y="3361064"/>
            <a:ext cx="4255232" cy="329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</a:t>
            </a:r>
            <a:r>
              <a:rPr lang="en-US" sz="1425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top-60 candidate pages </a:t>
            </a:r>
            <a:r>
              <a:rPr lang="en-US" sz="142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the reranker.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990495" y="3930113"/>
            <a:ext cx="16307009" cy="580255"/>
          </a:xfrm>
          <a:prstGeom prst="roundRect">
            <a:avLst>
              <a:gd name="adj" fmla="val 18057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54031" y="4084019"/>
            <a:ext cx="266665" cy="266665"/>
          </a:xfrm>
          <a:prstGeom prst="roundRect">
            <a:avLst>
              <a:gd name="adj" fmla="val 25003"/>
            </a:avLst>
          </a:prstGeom>
          <a:solidFill>
            <a:srgbClr val="01669C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931" y="4084019"/>
            <a:ext cx="342865" cy="30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573026" y="4074564"/>
            <a:ext cx="7194670" cy="329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CrossEncoder </a:t>
            </a:r>
            <a:r>
              <a:rPr lang="en-US" sz="1200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ms-marco-MiniLM-L-12 </a:t>
            </a:r>
            <a:r>
              <a:rPr lang="en-US" sz="142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the </a:t>
            </a:r>
            <a:r>
              <a:rPr lang="en-US" sz="1425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top-2 chunks / page </a:t>
            </a:r>
            <a:r>
              <a:rPr lang="en-US" sz="142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425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max-pools</a:t>
            </a:r>
            <a:r>
              <a:rPr lang="en-US" sz="142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990495" y="4643612"/>
            <a:ext cx="16307009" cy="580255"/>
          </a:xfrm>
          <a:prstGeom prst="roundRect">
            <a:avLst>
              <a:gd name="adj" fmla="val 18057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54031" y="4797518"/>
            <a:ext cx="266665" cy="266665"/>
          </a:xfrm>
          <a:prstGeom prst="roundRect">
            <a:avLst>
              <a:gd name="adj" fmla="val 25003"/>
            </a:avLst>
          </a:prstGeom>
          <a:solidFill>
            <a:srgbClr val="01669C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931" y="4797518"/>
            <a:ext cx="342865" cy="30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573026" y="4788063"/>
            <a:ext cx="2134230" cy="329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2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the </a:t>
            </a:r>
            <a:r>
              <a:rPr lang="en-US" sz="1425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top-10 </a:t>
            </a:r>
            <a:r>
              <a:rPr lang="en-US" sz="142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pages.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990495" y="8592810"/>
            <a:ext cx="16307009" cy="894194"/>
          </a:xfrm>
          <a:prstGeom prst="roundRect">
            <a:avLst>
              <a:gd name="adj" fmla="val 14913"/>
            </a:avLst>
          </a:prstGeom>
          <a:solidFill>
            <a:srgbClr val="122538"/>
          </a:solidFill>
          <a:ln w="11206">
            <a:solidFill>
              <a:srgbClr val="16486C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230196" y="8794516"/>
            <a:ext cx="17410368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68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MAX-POOL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230196" y="9038769"/>
            <a:ext cx="17410368" cy="284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page answering only </a:t>
            </a:r>
            <a:r>
              <a:rPr lang="en-US" sz="1350" i="1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</a:t>
            </a:r>
            <a:r>
              <a:rPr lang="en-US" sz="13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of a multi-hop query can still win on its best chunk — directly targets the weak multi-relevant queries.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90495" y="9764175"/>
            <a:ext cx="66535" cy="66535"/>
          </a:xfrm>
          <a:prstGeom prst="ellipse">
            <a:avLst/>
          </a:prstGeom>
          <a:solidFill>
            <a:srgbClr val="01669C"/>
          </a:solidFill>
          <a:ln/>
        </p:spPr>
      </p:sp>
      <p:sp>
        <p:nvSpPr>
          <p:cNvPr id="25" name="Text 23"/>
          <p:cNvSpPr/>
          <p:nvPr/>
        </p:nvSpPr>
        <p:spPr>
          <a:xfrm>
            <a:off x="1152280" y="9707795"/>
            <a:ext cx="3202718" cy="2173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B · Retrieval pipeline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16571923" y="9707795"/>
            <a:ext cx="801781" cy="2173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09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495" y="838165"/>
            <a:ext cx="1793771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 · NEGATIVE RESULTS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90495" y="1267315"/>
            <a:ext cx="17937710" cy="542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50" b="1" kern="0" spc="-45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tried — and why we rejected it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990495" y="1923910"/>
            <a:ext cx="11525249" cy="340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lever was A/B'd on the 50 public queries. Most </a:t>
            </a:r>
            <a:r>
              <a:rPr lang="en-US" sz="1650" i="1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hurt </a:t>
            </a:r>
            <a:r>
              <a:rPr lang="en-US" sz="16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which is why the final design is lean.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90495" y="2588384"/>
            <a:ext cx="5308611" cy="1297256"/>
          </a:xfrm>
          <a:prstGeom prst="roundRect">
            <a:avLst>
              <a:gd name="adj" fmla="val 8811"/>
            </a:avLst>
          </a:prstGeom>
          <a:solidFill>
            <a:srgbClr val="122538"/>
          </a:solidFill>
          <a:ln/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0495" y="3874434"/>
            <a:ext cx="5308611" cy="11206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7" name="Shape 5"/>
          <p:cNvSpPr/>
          <p:nvPr/>
        </p:nvSpPr>
        <p:spPr>
          <a:xfrm>
            <a:off x="990495" y="2588384"/>
            <a:ext cx="5308611" cy="16809"/>
          </a:xfrm>
          <a:prstGeom prst="rect">
            <a:avLst/>
          </a:prstGeom>
          <a:solidFill>
            <a:srgbClr val="7D97AB"/>
          </a:solidFill>
          <a:ln/>
        </p:spPr>
      </p:sp>
      <p:sp>
        <p:nvSpPr>
          <p:cNvPr id="8" name="Shape 6"/>
          <p:cNvSpPr/>
          <p:nvPr/>
        </p:nvSpPr>
        <p:spPr>
          <a:xfrm>
            <a:off x="990495" y="2588384"/>
            <a:ext cx="11206" cy="1297256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9" name="Shape 7"/>
          <p:cNvSpPr/>
          <p:nvPr/>
        </p:nvSpPr>
        <p:spPr>
          <a:xfrm>
            <a:off x="6287900" y="2588384"/>
            <a:ext cx="11206" cy="1297256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10" name="Text 8"/>
          <p:cNvSpPr/>
          <p:nvPr/>
        </p:nvSpPr>
        <p:spPr>
          <a:xfrm>
            <a:off x="1230196" y="2814603"/>
            <a:ext cx="2130168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-16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decomposition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510667" y="2859426"/>
            <a:ext cx="624938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D9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−0.016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0196" y="3205583"/>
            <a:ext cx="4974086" cy="486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per-facet sub-queries adds noisy short-fragment embeddings → false-positive pages.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6489606" y="2588384"/>
            <a:ext cx="5308611" cy="1297256"/>
          </a:xfrm>
          <a:prstGeom prst="roundRect">
            <a:avLst>
              <a:gd name="adj" fmla="val 8811"/>
            </a:avLst>
          </a:prstGeom>
          <a:solidFill>
            <a:srgbClr val="122538"/>
          </a:solidFill>
          <a:ln/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89606" y="3874434"/>
            <a:ext cx="5308611" cy="11206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15" name="Shape 13"/>
          <p:cNvSpPr/>
          <p:nvPr/>
        </p:nvSpPr>
        <p:spPr>
          <a:xfrm>
            <a:off x="6489606" y="2588384"/>
            <a:ext cx="5308611" cy="16809"/>
          </a:xfrm>
          <a:prstGeom prst="rect">
            <a:avLst/>
          </a:prstGeom>
          <a:solidFill>
            <a:srgbClr val="7D97A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89606" y="2588384"/>
            <a:ext cx="11206" cy="1297256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787012" y="2588384"/>
            <a:ext cx="11206" cy="1297256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18" name="Text 16"/>
          <p:cNvSpPr/>
          <p:nvPr/>
        </p:nvSpPr>
        <p:spPr>
          <a:xfrm>
            <a:off x="6729307" y="2814602"/>
            <a:ext cx="2246884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-16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Facet max-pool rerank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11009779" y="2859426"/>
            <a:ext cx="624938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D9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−0.021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9307" y="3205583"/>
            <a:ext cx="4974086" cy="497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125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</a:t>
            </a:r>
            <a:r>
              <a:rPr lang="en-US" sz="127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clauses boosts pages matching one generic clause — amplifies false positives.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11988717" y="2588384"/>
            <a:ext cx="5308611" cy="1297256"/>
          </a:xfrm>
          <a:prstGeom prst="roundRect">
            <a:avLst>
              <a:gd name="adj" fmla="val 8811"/>
            </a:avLst>
          </a:prstGeom>
          <a:solidFill>
            <a:srgbClr val="122538"/>
          </a:solidFill>
          <a:ln/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1988717" y="3874434"/>
            <a:ext cx="5308611" cy="11206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988717" y="2588384"/>
            <a:ext cx="5308611" cy="16809"/>
          </a:xfrm>
          <a:prstGeom prst="rect">
            <a:avLst/>
          </a:prstGeom>
          <a:solidFill>
            <a:srgbClr val="7D97AB"/>
          </a:solidFill>
          <a:ln/>
        </p:spPr>
      </p:sp>
      <p:sp>
        <p:nvSpPr>
          <p:cNvPr id="24" name="Shape 22"/>
          <p:cNvSpPr/>
          <p:nvPr/>
        </p:nvSpPr>
        <p:spPr>
          <a:xfrm>
            <a:off x="11988717" y="2588384"/>
            <a:ext cx="11206" cy="1297256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25" name="Shape 23"/>
          <p:cNvSpPr/>
          <p:nvPr/>
        </p:nvSpPr>
        <p:spPr>
          <a:xfrm>
            <a:off x="17286123" y="2588384"/>
            <a:ext cx="11206" cy="1297256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26" name="Text 24"/>
          <p:cNvSpPr/>
          <p:nvPr/>
        </p:nvSpPr>
        <p:spPr>
          <a:xfrm>
            <a:off x="12228419" y="2814602"/>
            <a:ext cx="2059098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-16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BM25-weighted RRF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15868755" y="2859426"/>
            <a:ext cx="1265074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recall↑ ndcg↓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228419" y="3205583"/>
            <a:ext cx="4974086" cy="486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relevant pages enter the set, but the CE can't rank them — they displace ones it ordered well.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990495" y="4076140"/>
            <a:ext cx="5308611" cy="1286050"/>
          </a:xfrm>
          <a:prstGeom prst="roundRect">
            <a:avLst>
              <a:gd name="adj" fmla="val 8888"/>
            </a:avLst>
          </a:prstGeom>
          <a:solidFill>
            <a:srgbClr val="122538"/>
          </a:solidFill>
          <a:ln/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90495" y="5350984"/>
            <a:ext cx="5308611" cy="11206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31" name="Shape 29"/>
          <p:cNvSpPr/>
          <p:nvPr/>
        </p:nvSpPr>
        <p:spPr>
          <a:xfrm>
            <a:off x="990495" y="4076140"/>
            <a:ext cx="5308611" cy="16809"/>
          </a:xfrm>
          <a:prstGeom prst="rect">
            <a:avLst/>
          </a:prstGeom>
          <a:solidFill>
            <a:srgbClr val="7D97AB"/>
          </a:solidFill>
          <a:ln/>
        </p:spPr>
      </p:sp>
      <p:sp>
        <p:nvSpPr>
          <p:cNvPr id="32" name="Shape 30"/>
          <p:cNvSpPr/>
          <p:nvPr/>
        </p:nvSpPr>
        <p:spPr>
          <a:xfrm>
            <a:off x="990495" y="4076140"/>
            <a:ext cx="11206" cy="1286050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33" name="Shape 31"/>
          <p:cNvSpPr/>
          <p:nvPr/>
        </p:nvSpPr>
        <p:spPr>
          <a:xfrm>
            <a:off x="6287900" y="4076140"/>
            <a:ext cx="11206" cy="1286050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34" name="Text 32"/>
          <p:cNvSpPr/>
          <p:nvPr/>
        </p:nvSpPr>
        <p:spPr>
          <a:xfrm>
            <a:off x="1230196" y="4302358"/>
            <a:ext cx="1876705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-16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rerankers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5327871" y="4347182"/>
            <a:ext cx="807734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D97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lose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30196" y="4693339"/>
            <a:ext cx="4974086" cy="486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 / electra / ensemble all under-perform L-12 (domain-matched), and the M60 GPU can't afford them.</a:t>
            </a:r>
            <a:endParaRPr lang="en-US" sz="1275" dirty="0"/>
          </a:p>
        </p:txBody>
      </p:sp>
      <p:sp>
        <p:nvSpPr>
          <p:cNvPr id="37" name="Shape 35"/>
          <p:cNvSpPr/>
          <p:nvPr/>
        </p:nvSpPr>
        <p:spPr>
          <a:xfrm>
            <a:off x="6489606" y="4076140"/>
            <a:ext cx="5308611" cy="1286050"/>
          </a:xfrm>
          <a:prstGeom prst="roundRect">
            <a:avLst>
              <a:gd name="adj" fmla="val 8888"/>
            </a:avLst>
          </a:prstGeom>
          <a:solidFill>
            <a:srgbClr val="122538"/>
          </a:solidFill>
          <a:ln/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89606" y="5350984"/>
            <a:ext cx="5308611" cy="11206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39" name="Shape 37"/>
          <p:cNvSpPr/>
          <p:nvPr/>
        </p:nvSpPr>
        <p:spPr>
          <a:xfrm>
            <a:off x="6489606" y="4076140"/>
            <a:ext cx="5308611" cy="16809"/>
          </a:xfrm>
          <a:prstGeom prst="rect">
            <a:avLst/>
          </a:prstGeom>
          <a:solidFill>
            <a:srgbClr val="7D97AB"/>
          </a:solidFill>
          <a:ln/>
        </p:spPr>
      </p:sp>
      <p:sp>
        <p:nvSpPr>
          <p:cNvPr id="40" name="Shape 38"/>
          <p:cNvSpPr/>
          <p:nvPr/>
        </p:nvSpPr>
        <p:spPr>
          <a:xfrm>
            <a:off x="6489606" y="4076140"/>
            <a:ext cx="11206" cy="1286050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41" name="Shape 39"/>
          <p:cNvSpPr/>
          <p:nvPr/>
        </p:nvSpPr>
        <p:spPr>
          <a:xfrm>
            <a:off x="11787012" y="4076140"/>
            <a:ext cx="11206" cy="1286050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42" name="Text 40"/>
          <p:cNvSpPr/>
          <p:nvPr/>
        </p:nvSpPr>
        <p:spPr>
          <a:xfrm>
            <a:off x="6729307" y="4302358"/>
            <a:ext cx="1953168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-16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 weight w=0.75</a:t>
            </a:r>
            <a:endParaRPr lang="en-US" sz="1575" dirty="0"/>
          </a:p>
        </p:txBody>
      </p:sp>
      <p:sp>
        <p:nvSpPr>
          <p:cNvPr id="43" name="Text 41"/>
          <p:cNvSpPr/>
          <p:nvPr/>
        </p:nvSpPr>
        <p:spPr>
          <a:xfrm>
            <a:off x="10369643" y="4347182"/>
            <a:ext cx="1265074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+.009 / −.018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29307" y="4693339"/>
            <a:ext cx="4974086" cy="486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+0.009 on public but </a:t>
            </a:r>
            <a:r>
              <a:rPr lang="en-US" sz="1275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−0.018 under 5-fold CV </a:t>
            </a:r>
            <a:r>
              <a:rPr lang="en-US" sz="127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public-set mirage. Rejected.</a:t>
            </a:r>
            <a:endParaRPr lang="en-US" sz="1275" dirty="0"/>
          </a:p>
        </p:txBody>
      </p:sp>
      <p:sp>
        <p:nvSpPr>
          <p:cNvPr id="45" name="Shape 43"/>
          <p:cNvSpPr/>
          <p:nvPr/>
        </p:nvSpPr>
        <p:spPr>
          <a:xfrm>
            <a:off x="11988717" y="4076140"/>
            <a:ext cx="5308611" cy="1286050"/>
          </a:xfrm>
          <a:prstGeom prst="roundRect">
            <a:avLst>
              <a:gd name="adj" fmla="val 8888"/>
            </a:avLst>
          </a:prstGeom>
          <a:solidFill>
            <a:srgbClr val="122538"/>
          </a:solidFill>
          <a:ln/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1988717" y="5350984"/>
            <a:ext cx="5308611" cy="11206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47" name="Shape 45"/>
          <p:cNvSpPr/>
          <p:nvPr/>
        </p:nvSpPr>
        <p:spPr>
          <a:xfrm>
            <a:off x="11988717" y="4076140"/>
            <a:ext cx="5308611" cy="16809"/>
          </a:xfrm>
          <a:prstGeom prst="rect">
            <a:avLst/>
          </a:prstGeom>
          <a:solidFill>
            <a:srgbClr val="7D97AB"/>
          </a:solidFill>
          <a:ln/>
        </p:spPr>
      </p:sp>
      <p:sp>
        <p:nvSpPr>
          <p:cNvPr id="48" name="Shape 46"/>
          <p:cNvSpPr/>
          <p:nvPr/>
        </p:nvSpPr>
        <p:spPr>
          <a:xfrm>
            <a:off x="11988717" y="4076140"/>
            <a:ext cx="11206" cy="1286050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49" name="Shape 47"/>
          <p:cNvSpPr/>
          <p:nvPr/>
        </p:nvSpPr>
        <p:spPr>
          <a:xfrm>
            <a:off x="17286123" y="4076140"/>
            <a:ext cx="11206" cy="1286050"/>
          </a:xfrm>
          <a:prstGeom prst="rect">
            <a:avLst/>
          </a:prstGeom>
          <a:solidFill>
            <a:srgbClr val="1C3650"/>
          </a:solidFill>
          <a:ln/>
        </p:spPr>
      </p:sp>
      <p:sp>
        <p:nvSpPr>
          <p:cNvPr id="50" name="Text 48"/>
          <p:cNvSpPr/>
          <p:nvPr/>
        </p:nvSpPr>
        <p:spPr>
          <a:xfrm>
            <a:off x="12228419" y="4302358"/>
            <a:ext cx="2058328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-16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digit tokenizer</a:t>
            </a:r>
            <a:endParaRPr lang="en-US" sz="1575" dirty="0"/>
          </a:p>
        </p:txBody>
      </p:sp>
      <p:sp>
        <p:nvSpPr>
          <p:cNvPr id="51" name="Text 49"/>
          <p:cNvSpPr/>
          <p:nvPr/>
        </p:nvSpPr>
        <p:spPr>
          <a:xfrm>
            <a:off x="16051725" y="4347182"/>
            <a:ext cx="1082103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+.003 fluke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2228419" y="4693339"/>
            <a:ext cx="4974086" cy="486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gain came from one query via an unrelated side-effect — mechanism falsified. Reverted.</a:t>
            </a:r>
            <a:endParaRPr lang="en-US" sz="1275" dirty="0"/>
          </a:p>
        </p:txBody>
      </p:sp>
      <p:sp>
        <p:nvSpPr>
          <p:cNvPr id="53" name="Shape 51"/>
          <p:cNvSpPr/>
          <p:nvPr/>
        </p:nvSpPr>
        <p:spPr>
          <a:xfrm>
            <a:off x="990495" y="8848816"/>
            <a:ext cx="16307009" cy="638735"/>
          </a:xfrm>
          <a:prstGeom prst="roundRect">
            <a:avLst>
              <a:gd name="adj" fmla="val 20877"/>
            </a:avLst>
          </a:prstGeom>
          <a:solidFill>
            <a:srgbClr val="122538"/>
          </a:solidFill>
          <a:ln w="11206">
            <a:solidFill>
              <a:srgbClr val="16486C"/>
            </a:solidFill>
            <a:prstDash val="solid"/>
          </a:ln>
          <a:effectLst>
            <a:outerShdw blurRad="19050" dist="9525" dir="5400000" algn="bl" rotWithShape="0">
              <a:srgbClr val="161A20">
                <a:alpha val="3986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249281" y="9084140"/>
            <a:ext cx="1019420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68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DISCIPLINE</a:t>
            </a:r>
            <a:endParaRPr lang="en-US" sz="1125" dirty="0"/>
          </a:p>
        </p:txBody>
      </p:sp>
      <p:sp>
        <p:nvSpPr>
          <p:cNvPr id="55" name="Text 53"/>
          <p:cNvSpPr/>
          <p:nvPr/>
        </p:nvSpPr>
        <p:spPr>
          <a:xfrm>
            <a:off x="2363916" y="9050507"/>
            <a:ext cx="13466860" cy="273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Judged by </a:t>
            </a:r>
            <a:r>
              <a:rPr lang="en-US" sz="1350" b="1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CV </a:t>
            </a:r>
            <a:r>
              <a:rPr lang="en-US" sz="13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per-#relevant buckets — not the public mean. Sub-0.01 changes (≈ 1 query) treated as noise, so public gains survive on the hidden set.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990495" y="9764175"/>
            <a:ext cx="66535" cy="66535"/>
          </a:xfrm>
          <a:prstGeom prst="ellipse">
            <a:avLst/>
          </a:prstGeom>
          <a:solidFill>
            <a:srgbClr val="01669C"/>
          </a:solidFill>
          <a:ln/>
        </p:spPr>
      </p:sp>
      <p:sp>
        <p:nvSpPr>
          <p:cNvPr id="57" name="Text 55"/>
          <p:cNvSpPr/>
          <p:nvPr/>
        </p:nvSpPr>
        <p:spPr>
          <a:xfrm>
            <a:off x="1152280" y="9707795"/>
            <a:ext cx="3202718" cy="2173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B · Retrieval pipeline</a:t>
            </a:r>
            <a:endParaRPr lang="en-US" sz="1275" dirty="0"/>
          </a:p>
        </p:txBody>
      </p:sp>
      <p:sp>
        <p:nvSpPr>
          <p:cNvPr id="58" name="Text 56"/>
          <p:cNvSpPr/>
          <p:nvPr/>
        </p:nvSpPr>
        <p:spPr>
          <a:xfrm>
            <a:off x="16571923" y="9707795"/>
            <a:ext cx="801781" cy="2173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09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495" y="838165"/>
            <a:ext cx="1793771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75" kern="0" spc="347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90495" y="1267315"/>
            <a:ext cx="17937710" cy="542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50" b="1" kern="0" spc="-45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0.4623, within budget, at the corpus ceiling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990495" y="2171495"/>
            <a:ext cx="5296005" cy="1731134"/>
          </a:xfrm>
          <a:prstGeom prst="roundRect">
            <a:avLst>
              <a:gd name="adj" fmla="val 7703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7451" y="2449366"/>
            <a:ext cx="5172302" cy="710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0.4623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287451" y="3178799"/>
            <a:ext cx="5172302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6A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+56.2% vs first pipeline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87451" y="3456670"/>
            <a:ext cx="5172302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NDCG@10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495909" y="2171495"/>
            <a:ext cx="5296005" cy="1731134"/>
          </a:xfrm>
          <a:prstGeom prst="roundRect">
            <a:avLst>
              <a:gd name="adj" fmla="val 7703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92866" y="2449366"/>
            <a:ext cx="5172302" cy="710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2100" b="1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/60 s</a:t>
            </a:r>
            <a:endParaRPr lang="en-US" sz="4050" dirty="0"/>
          </a:p>
        </p:txBody>
      </p:sp>
      <p:sp>
        <p:nvSpPr>
          <p:cNvPr id="10" name="Text 8"/>
          <p:cNvSpPr/>
          <p:nvPr/>
        </p:nvSpPr>
        <p:spPr>
          <a:xfrm>
            <a:off x="6792866" y="3178797"/>
            <a:ext cx="5172302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6A8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s headroom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92866" y="3456668"/>
            <a:ext cx="5172302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de-risked 48.6→42 s, NDCG identical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12001324" y="2171494"/>
            <a:ext cx="5296005" cy="1731134"/>
          </a:xfrm>
          <a:prstGeom prst="roundRect">
            <a:avLst>
              <a:gd name="adj" fmla="val 7703"/>
            </a:avLst>
          </a:prstGeom>
          <a:solidFill>
            <a:srgbClr val="122538"/>
          </a:solidFill>
          <a:ln w="11206">
            <a:solidFill>
              <a:srgbClr val="16486C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298280" y="2449364"/>
            <a:ext cx="5172302" cy="710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2100" b="1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indexes</a:t>
            </a:r>
            <a:endParaRPr lang="en-US" sz="4050" dirty="0"/>
          </a:p>
        </p:txBody>
      </p:sp>
      <p:sp>
        <p:nvSpPr>
          <p:cNvPr id="14" name="Text 12"/>
          <p:cNvSpPr/>
          <p:nvPr/>
        </p:nvSpPr>
        <p:spPr>
          <a:xfrm>
            <a:off x="12298280" y="3178797"/>
            <a:ext cx="5172302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166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+ sparse, hybrid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298280" y="3456668"/>
            <a:ext cx="5172302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shipped in artifacts/ (LFS)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990495" y="4227044"/>
            <a:ext cx="8498085" cy="5260636"/>
          </a:xfrm>
          <a:prstGeom prst="roundRect">
            <a:avLst>
              <a:gd name="adj" fmla="val 2535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3982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25446" y="5791315"/>
            <a:ext cx="8611002" cy="217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ANALYSIS · 100 RELEVANT DOCS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1325446" y="6199104"/>
            <a:ext cx="2818104" cy="418995"/>
          </a:xfrm>
          <a:prstGeom prst="rect">
            <a:avLst/>
          </a:prstGeom>
          <a:solidFill>
            <a:srgbClr val="56A8DF"/>
          </a:solidFill>
          <a:ln/>
        </p:spPr>
      </p:sp>
      <p:sp>
        <p:nvSpPr>
          <p:cNvPr id="19" name="Text 17"/>
          <p:cNvSpPr/>
          <p:nvPr/>
        </p:nvSpPr>
        <p:spPr>
          <a:xfrm>
            <a:off x="2597313" y="6307660"/>
            <a:ext cx="350569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0F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43550" y="6199104"/>
            <a:ext cx="391330" cy="418995"/>
          </a:xfrm>
          <a:prstGeom prst="rect">
            <a:avLst/>
          </a:prstGeom>
          <a:solidFill>
            <a:srgbClr val="9BBACD"/>
          </a:solidFill>
          <a:ln/>
        </p:spPr>
      </p:sp>
      <p:sp>
        <p:nvSpPr>
          <p:cNvPr id="21" name="Shape 19"/>
          <p:cNvSpPr/>
          <p:nvPr/>
        </p:nvSpPr>
        <p:spPr>
          <a:xfrm>
            <a:off x="4534880" y="6199104"/>
            <a:ext cx="4618574" cy="418995"/>
          </a:xfrm>
          <a:prstGeom prst="rect">
            <a:avLst/>
          </a:prstGeom>
          <a:solidFill>
            <a:srgbClr val="4E677D"/>
          </a:solidFill>
          <a:ln/>
        </p:spPr>
      </p:sp>
      <p:sp>
        <p:nvSpPr>
          <p:cNvPr id="22" name="Text 20"/>
          <p:cNvSpPr/>
          <p:nvPr/>
        </p:nvSpPr>
        <p:spPr>
          <a:xfrm>
            <a:off x="6706895" y="6307660"/>
            <a:ext cx="350569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25446" y="6879510"/>
            <a:ext cx="104705" cy="104705"/>
          </a:xfrm>
          <a:prstGeom prst="roundRect">
            <a:avLst>
              <a:gd name="adj" fmla="val 27291"/>
            </a:avLst>
          </a:prstGeom>
          <a:solidFill>
            <a:srgbClr val="56A8DF"/>
          </a:solidFill>
          <a:ln/>
        </p:spPr>
      </p:sp>
      <p:sp>
        <p:nvSpPr>
          <p:cNvPr id="24" name="Text 22"/>
          <p:cNvSpPr/>
          <p:nvPr/>
        </p:nvSpPr>
        <p:spPr>
          <a:xfrm>
            <a:off x="1506316" y="6808598"/>
            <a:ext cx="327807" cy="284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325446" y="7093123"/>
            <a:ext cx="1116596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 in top-10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632507" y="6879494"/>
            <a:ext cx="104705" cy="104705"/>
          </a:xfrm>
          <a:prstGeom prst="roundRect">
            <a:avLst>
              <a:gd name="adj" fmla="val 27291"/>
            </a:avLst>
          </a:prstGeom>
          <a:solidFill>
            <a:srgbClr val="9BBACD"/>
          </a:solidFill>
          <a:ln/>
        </p:spPr>
      </p:sp>
      <p:sp>
        <p:nvSpPr>
          <p:cNvPr id="27" name="Text 25"/>
          <p:cNvSpPr/>
          <p:nvPr/>
        </p:nvSpPr>
        <p:spPr>
          <a:xfrm>
            <a:off x="2813377" y="6808582"/>
            <a:ext cx="202091" cy="284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2632507" y="7093107"/>
            <a:ext cx="1320473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recall-fixable*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099602" y="6879494"/>
            <a:ext cx="104705" cy="104705"/>
          </a:xfrm>
          <a:prstGeom prst="roundRect">
            <a:avLst>
              <a:gd name="adj" fmla="val 27291"/>
            </a:avLst>
          </a:prstGeom>
          <a:solidFill>
            <a:srgbClr val="4E677D"/>
          </a:solidFill>
          <a:ln/>
        </p:spPr>
      </p:sp>
      <p:sp>
        <p:nvSpPr>
          <p:cNvPr id="30" name="Text 28"/>
          <p:cNvSpPr/>
          <p:nvPr/>
        </p:nvSpPr>
        <p:spPr>
          <a:xfrm>
            <a:off x="4280472" y="6808582"/>
            <a:ext cx="327807" cy="284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2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4099602" y="7093107"/>
            <a:ext cx="1584529" cy="194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 / content-bound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325446" y="7497569"/>
            <a:ext cx="8063029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*none robustly capturable under CV. The rest are templated near-duplicate clones &amp; queries whose facts aren't on the labeled page — signal points </a:t>
            </a:r>
            <a:r>
              <a:rPr lang="en-US" sz="1125" i="1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away </a:t>
            </a:r>
            <a:r>
              <a:rPr lang="en-US" sz="1125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the gold id.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9907575" y="4227027"/>
            <a:ext cx="7389929" cy="4199754"/>
          </a:xfrm>
          <a:prstGeom prst="roundRect">
            <a:avLst>
              <a:gd name="adj" fmla="val 3175"/>
            </a:avLst>
          </a:prstGeom>
          <a:solidFill>
            <a:srgbClr val="122538"/>
          </a:solidFill>
          <a:ln w="11206">
            <a:solidFill>
              <a:srgbClr val="1C3650"/>
            </a:solidFill>
            <a:prstDash val="solid"/>
          </a:ln>
          <a:effectLst>
            <a:outerShdw blurRad="19050" dist="9525" dir="5400000" algn="bl" rotWithShape="0">
              <a:srgbClr val="161A20">
                <a:alpha val="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0204531" y="5656827"/>
            <a:ext cx="6999898" cy="68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off-the-shelf lever is exhausted — </a:t>
            </a:r>
            <a:r>
              <a:rPr lang="en-US" sz="1725" dirty="0">
                <a:solidFill>
                  <a:srgbClr val="0166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0.4623 is the generalizable ceiling </a:t>
            </a:r>
            <a:r>
              <a:rPr lang="en-US" sz="1725" dirty="0">
                <a:solidFill>
                  <a:srgbClr val="E2EC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this corpus.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10204531" y="6459081"/>
            <a:ext cx="6999898" cy="5759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remaining upside is a custom fine-tuned reranker, shipped as a checkpoint in the repo.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9907575" y="8617264"/>
            <a:ext cx="365242" cy="440181"/>
          </a:xfrm>
          <a:prstGeom prst="ellipse">
            <a:avLst/>
          </a:prstGeom>
          <a:solidFill>
            <a:srgbClr val="122538"/>
          </a:solidFill>
          <a:ln w="11206">
            <a:solidFill>
              <a:srgbClr val="27456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86976" y="8617264"/>
            <a:ext cx="365242" cy="440181"/>
          </a:xfrm>
          <a:prstGeom prst="ellipse">
            <a:avLst/>
          </a:prstGeom>
          <a:solidFill>
            <a:srgbClr val="122538"/>
          </a:solidFill>
          <a:ln w="11206">
            <a:solidFill>
              <a:srgbClr val="27456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866379" y="8617264"/>
            <a:ext cx="365242" cy="440181"/>
          </a:xfrm>
          <a:prstGeom prst="ellipse">
            <a:avLst/>
          </a:prstGeom>
          <a:solidFill>
            <a:srgbClr val="122538"/>
          </a:solidFill>
          <a:ln w="11206">
            <a:solidFill>
              <a:srgbClr val="2745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07575" y="9302733"/>
            <a:ext cx="490818" cy="20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96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474522" y="9382050"/>
            <a:ext cx="3192801" cy="9525"/>
          </a:xfrm>
          <a:prstGeom prst="rect">
            <a:avLst/>
          </a:prstGeom>
          <a:solidFill>
            <a:srgbClr val="274564"/>
          </a:solidFill>
          <a:ln/>
        </p:spPr>
      </p:sp>
      <p:sp>
        <p:nvSpPr>
          <p:cNvPr id="41" name="Text 39"/>
          <p:cNvSpPr/>
          <p:nvPr/>
        </p:nvSpPr>
        <p:spPr>
          <a:xfrm>
            <a:off x="13819654" y="9285924"/>
            <a:ext cx="3825636" cy="239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BB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Meirovich · Paz Goldfryd · Adi Golani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990495" y="9764175"/>
            <a:ext cx="66535" cy="66535"/>
          </a:xfrm>
          <a:prstGeom prst="ellipse">
            <a:avLst/>
          </a:prstGeom>
          <a:solidFill>
            <a:srgbClr val="01669C"/>
          </a:solidFill>
          <a:ln/>
        </p:spPr>
      </p:sp>
      <p:sp>
        <p:nvSpPr>
          <p:cNvPr id="43" name="Text 41"/>
          <p:cNvSpPr/>
          <p:nvPr/>
        </p:nvSpPr>
        <p:spPr>
          <a:xfrm>
            <a:off x="1152280" y="9707795"/>
            <a:ext cx="3202718" cy="2173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9BB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B · Retrieval pipeline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16571923" y="9707795"/>
            <a:ext cx="801781" cy="2173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51" dirty="0">
                <a:solidFill>
                  <a:srgbClr val="708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09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1814</Words>
  <Application>Microsoft Macintosh PowerPoint</Application>
  <PresentationFormat>Custom</PresentationFormat>
  <Paragraphs>224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 Golani</cp:lastModifiedBy>
  <cp:revision>1</cp:revision>
  <dcterms:created xsi:type="dcterms:W3CDTF">2026-06-17T14:22:59Z</dcterms:created>
  <dcterms:modified xsi:type="dcterms:W3CDTF">2026-06-17T14:23:45Z</dcterms:modified>
</cp:coreProperties>
</file>